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89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2_Smart_Campus_Technology_for_Universities.png"/>
          <p:cNvPicPr>
            <a:picLocks noChangeAspect="1"/>
          </p:cNvPicPr>
          <p:nvPr/>
        </p:nvPicPr>
        <p:blipFill>
          <a:blip r:embed="rId3"/>
          <a:srcRect t="9833" b="98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5000"/>
                </a:srgbClr>
              </a:gs>
              <a:gs pos="55000">
                <a:srgbClr val="1E2F3D">
                  <a:alpha val="85000"/>
                </a:srgbClr>
              </a:gs>
              <a:gs pos="100000">
                <a:srgbClr val="1E2F3D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2730500"/>
            <a:ext cx="762000" cy="635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9845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大学生心理健康状况</a:t>
            </a:r>
            <a:endParaRPr lang="en-US" sz="4000" dirty="0"/>
          </a:p>
          <a:p>
            <a:pPr algn="l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动态监测与预警系统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62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项目汇报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2000" y="53340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5588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第七小组</a:t>
            </a:r>
            <a:endParaRPr lang="en-US" altLang="zh-CN" sz="1400" dirty="0">
              <a:solidFill>
                <a:srgbClr val="FFFFFF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4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651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汇报目录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2413000"/>
            <a:ext cx="508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6670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本汇报共6个章节，涵盖、系统架构、核心功能、数据库设计、机器学习模型、前端展示及项目总结。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34000" y="1016000"/>
            <a:ext cx="4826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0" name="Text 8"/>
          <p:cNvSpPr/>
          <p:nvPr/>
        </p:nvSpPr>
        <p:spPr>
          <a:xfrm>
            <a:off x="5588000" y="1206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88000" y="1714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系统架构与技术栈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三层架构 · 技术选型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984250"/>
            <a:ext cx="4826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0" y="117475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668000" y="168275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学生端 · 辅导员端 · 管理员端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0" y="3048000"/>
            <a:ext cx="4826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588000" y="3238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88000" y="3746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数据库设计与优化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核心表结构 · SQL优化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14000" y="2984500"/>
            <a:ext cx="4826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0" y="31750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668000" y="3683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机器学习模型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特征工程 · 模型训练 · 风险预警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0" y="4984750"/>
            <a:ext cx="4826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2" name="Text 20"/>
          <p:cNvSpPr/>
          <p:nvPr/>
        </p:nvSpPr>
        <p:spPr>
          <a:xfrm>
            <a:off x="5588000" y="517525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88000" y="568325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前端功能展示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工作台 · 统计分析 · 群体画像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414000" y="5080000"/>
            <a:ext cx="4826000" cy="1651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0" y="5270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668000" y="5778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项目创新点与总结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技术创新 · 业务创新 · 工程创新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9044" y="3892549"/>
            <a:ext cx="5213350" cy="349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 err="1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分工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zh-CN" alt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杨璟欣</a:t>
            </a:r>
            <a:r>
              <a:rPr 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zh-CN" altLang="en-US" sz="2000" dirty="0"/>
              <a:t>系统架构</a:t>
            </a:r>
            <a:endParaRPr lang="en-US" altLang="zh-CN" sz="2000" dirty="0"/>
          </a:p>
          <a:p>
            <a:pPr>
              <a:lnSpc>
                <a:spcPct val="160000"/>
              </a:lnSpc>
            </a:pPr>
            <a:r>
              <a:rPr lang="zh-CN" alt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郑秉文</a:t>
            </a:r>
            <a:r>
              <a:rPr 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zh-CN" altLang="en-US" sz="2000" dirty="0"/>
              <a:t>前后端业务开发</a:t>
            </a:r>
            <a:endParaRPr lang="en-US" altLang="zh-CN" sz="2000" dirty="0"/>
          </a:p>
          <a:p>
            <a:pPr>
              <a:lnSpc>
                <a:spcPct val="160000"/>
              </a:lnSpc>
            </a:pPr>
            <a:r>
              <a:rPr lang="zh-CN" alt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狄伟嘉</a:t>
            </a:r>
            <a:r>
              <a:rPr 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zh-CN" altLang="en-US" sz="2000" dirty="0"/>
              <a:t>数据库开发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zh-CN" alt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贺向阳</a:t>
            </a:r>
            <a:r>
              <a:rPr 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zh-CN" altLang="en-US" sz="2000" dirty="0"/>
              <a:t>机器学习</a:t>
            </a:r>
            <a:endParaRPr lang="en-US" altLang="zh-CN" sz="2000" dirty="0"/>
          </a:p>
          <a:p>
            <a:pPr>
              <a:lnSpc>
                <a:spcPct val="160000"/>
              </a:lnSpc>
            </a:pPr>
            <a:r>
              <a:rPr lang="zh-CN" alt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龚哲</a:t>
            </a:r>
            <a:r>
              <a:rPr 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en-US" altLang="zh-CN" sz="2000" dirty="0"/>
              <a:t>NLP </a:t>
            </a:r>
            <a:r>
              <a:rPr lang="zh-CN" altLang="en-US" sz="2000" dirty="0"/>
              <a:t>算法 </a:t>
            </a:r>
            <a:r>
              <a:rPr lang="en-US" altLang="zh-CN" sz="2000" dirty="0"/>
              <a:t>&amp; </a:t>
            </a:r>
            <a:r>
              <a:rPr lang="zh-CN" altLang="en-US" sz="2000" dirty="0"/>
              <a:t>可视化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3_Power_UI_Dark_Blue_Power_BI_Dashboard.png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4000"/>
                </a:srgbClr>
              </a:gs>
              <a:gs pos="6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系统架构与技术栈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整体架构设计与技术选型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演讲者1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系统整体架构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87500"/>
            <a:ext cx="14732000" cy="1143000"/>
          </a:xfrm>
          <a:prstGeom prst="rect">
            <a:avLst/>
          </a:prstGeom>
          <a:solidFill>
            <a:srgbClr val="3D5A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65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032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19 + TypeScript + Vite  |  端口 5173  |  Zustand 状态管理  |  Recharts 图表可视化  |  JWT Bearer Token 认证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0" y="2730500"/>
            <a:ext cx="0" cy="317500"/>
          </a:xfrm>
          <a:prstGeom prst="straightConnector1">
            <a:avLst/>
          </a:prstGeom>
          <a:noFill/>
          <a:ln w="25400">
            <a:solidFill>
              <a:srgbClr val="8A9BAE"/>
            </a:solidFill>
            <a:prstDash val="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62000" y="3048000"/>
            <a:ext cx="14732000" cy="18415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111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后端层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492500"/>
            <a:ext cx="142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SQLAlchemy  |  端口 8000  |  3 个路由模块  |  24+ API 端点  |  JWT 认证  |  角色权限控制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6000" y="3937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服务层：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6000" y="4318000"/>
            <a:ext cx="4318000" cy="444500"/>
          </a:xfrm>
          <a:prstGeom prst="rect">
            <a:avLst/>
          </a:prstGeom>
          <a:solidFill>
            <a:srgbClr val="1E3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3180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MLService（懒加载 ML 模型）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88000" y="4318000"/>
            <a:ext cx="4572000" cy="444500"/>
          </a:xfrm>
          <a:prstGeom prst="rect">
            <a:avLst/>
          </a:prstGeom>
          <a:solidFill>
            <a:srgbClr val="1E3A4D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4318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SuggestionService（14 种干预建议）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414000" y="4318000"/>
            <a:ext cx="4826000" cy="444500"/>
          </a:xfrm>
          <a:prstGeom prst="rect">
            <a:avLst/>
          </a:prstGeom>
          <a:solidFill>
            <a:srgbClr val="1E3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0" y="43180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NLPService（情感分析 + 主题识别）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28000" y="4889500"/>
            <a:ext cx="0" cy="317500"/>
          </a:xfrm>
          <a:prstGeom prst="straightConnector1">
            <a:avLst/>
          </a:prstGeom>
          <a:noFill/>
          <a:ln w="25400">
            <a:solidFill>
              <a:srgbClr val="8A9BAE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62000" y="5207000"/>
            <a:ext cx="14732000" cy="1143000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527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651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张核心表 + 2 个视图 + 1 个触发器  |  3 张预聚合表（周维度统计）  |  跨数据库兼容（SQLite / MySQL）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8000" y="6350000"/>
            <a:ext cx="0" cy="317500"/>
          </a:xfrm>
          <a:prstGeom prst="straightConnector1">
            <a:avLst/>
          </a:prstGeom>
          <a:noFill/>
          <a:ln w="25400">
            <a:solidFill>
              <a:srgbClr val="8A9BAE"/>
            </a:solidFill>
            <a:prstDash val="dash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62000" y="6667500"/>
            <a:ext cx="14732000" cy="1143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流水线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7112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  |  Random Forest + SMOTE + GridSearchCV  |  16 特征 → predict_proba → 风险分级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技术栈总览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826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层级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技术选型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React 19 + TypeScript + Vite + Zustand + Recharts + Lucide React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FastAPI + SQLAlchemy + Pydantic v2 + python-jose (JWT)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SQLite（开发）/ MySQL（生产 Docker）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机器学习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scikit-learn + imbalanced-learn (SMOTE) + pandas + numpy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NLP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jieba 分词 + 情感词典 + TF-IDF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Shape 11"/>
          <p:cNvSpPr/>
          <p:nvPr/>
        </p:nvSpPr>
        <p:spPr>
          <a:xfrm>
            <a:off x="1079500" y="7112000"/>
            <a:ext cx="406400" cy="406400"/>
          </a:xfrm>
          <a:prstGeom prst="ellipse">
            <a:avLst/>
          </a:prstGeom>
          <a:solidFill>
            <a:srgbClr val="2D4A5E"/>
          </a:solidFill>
          <a:ln/>
        </p:spPr>
      </p:sp>
      <p:sp>
        <p:nvSpPr>
          <p:cNvPr id="15" name="Text 12"/>
          <p:cNvSpPr/>
          <p:nvPr/>
        </p:nvSpPr>
        <p:spPr>
          <a:xfrm>
            <a:off x="1651000" y="698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部署方案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51000" y="7366000"/>
            <a:ext cx="134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 一键部署：MySQL + 后端 + 前端三个容器编排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4_Analytics_Dashboard_Dark_Theme_Data.png"/>
          <p:cNvPicPr>
            <a:picLocks noChangeAspect="1"/>
          </p:cNvPicPr>
          <p:nvPr/>
        </p:nvPicPr>
        <p:blipFill>
          <a:blip r:embed="rId3"/>
          <a:srcRect t="10238" b="1023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4000"/>
                </a:srgbClr>
              </a:gs>
              <a:gs pos="6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学生端、辅导员端、管理员端三大功能体系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演讲者2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学生端功能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87500"/>
            <a:ext cx="4699000" cy="304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0504" y="6826"/>
                </a:moveTo>
                <a:cubicBezTo>
                  <a:pt x="210741" y="-2223"/>
                  <a:pt x="195659" y="-2223"/>
                  <a:pt x="185976" y="6826"/>
                </a:cubicBezTo>
                <a:lnTo>
                  <a:pt x="8176" y="171926"/>
                </a:lnTo>
                <a:cubicBezTo>
                  <a:pt x="556" y="179070"/>
                  <a:pt x="-1984" y="190103"/>
                  <a:pt x="1826" y="199787"/>
                </a:cubicBezTo>
                <a:cubicBezTo>
                  <a:pt x="5636" y="209471"/>
                  <a:pt x="14923" y="215900"/>
                  <a:pt x="25400" y="215900"/>
                </a:cubicBezTo>
                <a:lnTo>
                  <a:pt x="38100" y="215900"/>
                </a:lnTo>
                <a:lnTo>
                  <a:pt x="38100" y="355600"/>
                </a:lnTo>
                <a:cubicBezTo>
                  <a:pt x="38100" y="383619"/>
                  <a:pt x="60881" y="406400"/>
                  <a:pt x="88900" y="406400"/>
                </a:cubicBezTo>
                <a:lnTo>
                  <a:pt x="317500" y="406400"/>
                </a:lnTo>
                <a:cubicBezTo>
                  <a:pt x="345519" y="406400"/>
                  <a:pt x="368300" y="383619"/>
                  <a:pt x="368300" y="355600"/>
                </a:cubicBezTo>
                <a:lnTo>
                  <a:pt x="368300" y="215900"/>
                </a:lnTo>
                <a:lnTo>
                  <a:pt x="381000" y="215900"/>
                </a:lnTo>
                <a:cubicBezTo>
                  <a:pt x="391478" y="215900"/>
                  <a:pt x="400844" y="209471"/>
                  <a:pt x="404654" y="199787"/>
                </a:cubicBezTo>
                <a:cubicBezTo>
                  <a:pt x="408464" y="190103"/>
                  <a:pt x="405924" y="178991"/>
                  <a:pt x="398304" y="171926"/>
                </a:cubicBezTo>
                <a:lnTo>
                  <a:pt x="220504" y="6826"/>
                </a:lnTo>
                <a:close/>
                <a:moveTo>
                  <a:pt x="190500" y="254000"/>
                </a:moveTo>
                <a:lnTo>
                  <a:pt x="215900" y="254000"/>
                </a:lnTo>
                <a:cubicBezTo>
                  <a:pt x="236934" y="254000"/>
                  <a:pt x="254000" y="271066"/>
                  <a:pt x="254000" y="292100"/>
                </a:cubicBezTo>
                <a:lnTo>
                  <a:pt x="254000" y="368300"/>
                </a:lnTo>
                <a:lnTo>
                  <a:pt x="152400" y="368300"/>
                </a:lnTo>
                <a:lnTo>
                  <a:pt x="152400" y="292100"/>
                </a:lnTo>
                <a:cubicBezTo>
                  <a:pt x="152400" y="271066"/>
                  <a:pt x="169466" y="254000"/>
                  <a:pt x="190500" y="254000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个人首页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9500" y="28194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展示个人概况、12 周行为趋势图、最新风险评估结果、个性化干预建议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78500" y="1587500"/>
            <a:ext cx="4699000" cy="304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50800"/>
                </a:moveTo>
                <a:cubicBezTo>
                  <a:pt x="277989" y="50800"/>
                  <a:pt x="338667" y="119063"/>
                  <a:pt x="338667" y="203200"/>
                </a:cubicBezTo>
                <a:cubicBezTo>
                  <a:pt x="338667" y="287338"/>
                  <a:pt x="277989" y="355600"/>
                  <a:pt x="203200" y="355600"/>
                </a:cubicBezTo>
                <a:cubicBezTo>
                  <a:pt x="157198" y="355600"/>
                  <a:pt x="116487" y="329803"/>
                  <a:pt x="92004" y="290274"/>
                </a:cubicBezTo>
                <a:cubicBezTo>
                  <a:pt x="84878" y="278765"/>
                  <a:pt x="70767" y="275987"/>
                  <a:pt x="60537" y="284004"/>
                </a:cubicBezTo>
                <a:cubicBezTo>
                  <a:pt x="50306" y="292021"/>
                  <a:pt x="47837" y="307896"/>
                  <a:pt x="54963" y="319405"/>
                </a:cubicBezTo>
                <a:cubicBezTo>
                  <a:pt x="87559" y="371951"/>
                  <a:pt x="141817" y="406400"/>
                  <a:pt x="203200" y="406400"/>
                </a:cubicBezTo>
                <a:cubicBezTo>
                  <a:pt x="302966" y="406400"/>
                  <a:pt x="383822" y="315436"/>
                  <a:pt x="383822" y="203200"/>
                </a:cubicBezTo>
                <a:cubicBezTo>
                  <a:pt x="383822" y="90964"/>
                  <a:pt x="302966" y="0"/>
                  <a:pt x="203200" y="0"/>
                </a:cubicBezTo>
                <a:cubicBezTo>
                  <a:pt x="142734" y="0"/>
                  <a:pt x="89253" y="33417"/>
                  <a:pt x="56444" y="84693"/>
                </a:cubicBezTo>
                <a:lnTo>
                  <a:pt x="56444" y="63500"/>
                </a:lnTo>
                <a:cubicBezTo>
                  <a:pt x="56444" y="49451"/>
                  <a:pt x="46355" y="38100"/>
                  <a:pt x="33867" y="38100"/>
                </a:cubicBezTo>
                <a:cubicBezTo>
                  <a:pt x="21378" y="38100"/>
                  <a:pt x="11289" y="49451"/>
                  <a:pt x="11289" y="63500"/>
                </a:cubicBezTo>
                <a:lnTo>
                  <a:pt x="11289" y="152400"/>
                </a:lnTo>
                <a:cubicBezTo>
                  <a:pt x="11289" y="166449"/>
                  <a:pt x="21378" y="177800"/>
                  <a:pt x="33867" y="177800"/>
                </a:cubicBezTo>
                <a:lnTo>
                  <a:pt x="51223" y="177800"/>
                </a:lnTo>
                <a:cubicBezTo>
                  <a:pt x="51576" y="177800"/>
                  <a:pt x="51929" y="177800"/>
                  <a:pt x="52282" y="177800"/>
                </a:cubicBezTo>
                <a:lnTo>
                  <a:pt x="112959" y="177800"/>
                </a:lnTo>
                <a:cubicBezTo>
                  <a:pt x="125448" y="177800"/>
                  <a:pt x="135537" y="166449"/>
                  <a:pt x="135537" y="152400"/>
                </a:cubicBezTo>
                <a:cubicBezTo>
                  <a:pt x="135537" y="138351"/>
                  <a:pt x="125448" y="127000"/>
                  <a:pt x="112959" y="127000"/>
                </a:cubicBezTo>
                <a:lnTo>
                  <a:pt x="85937" y="127000"/>
                </a:lnTo>
                <a:cubicBezTo>
                  <a:pt x="109291" y="81439"/>
                  <a:pt x="153106" y="50800"/>
                  <a:pt x="203200" y="50800"/>
                </a:cubicBezTo>
                <a:close/>
                <a:moveTo>
                  <a:pt x="220133" y="120650"/>
                </a:moveTo>
                <a:cubicBezTo>
                  <a:pt x="220133" y="110093"/>
                  <a:pt x="212584" y="101600"/>
                  <a:pt x="203200" y="101600"/>
                </a:cubicBezTo>
                <a:cubicBezTo>
                  <a:pt x="193816" y="101600"/>
                  <a:pt x="186267" y="110093"/>
                  <a:pt x="186267" y="120650"/>
                </a:cubicBezTo>
                <a:lnTo>
                  <a:pt x="186267" y="203200"/>
                </a:lnTo>
                <a:cubicBezTo>
                  <a:pt x="186267" y="208280"/>
                  <a:pt x="188031" y="213122"/>
                  <a:pt x="191206" y="216694"/>
                </a:cubicBezTo>
                <a:lnTo>
                  <a:pt x="242006" y="273844"/>
                </a:lnTo>
                <a:cubicBezTo>
                  <a:pt x="248638" y="281305"/>
                  <a:pt x="259362" y="281305"/>
                  <a:pt x="265924" y="273844"/>
                </a:cubicBezTo>
                <a:cubicBezTo>
                  <a:pt x="272486" y="266383"/>
                  <a:pt x="272556" y="254317"/>
                  <a:pt x="265924" y="246936"/>
                </a:cubicBezTo>
                <a:lnTo>
                  <a:pt x="220063" y="195342"/>
                </a:lnTo>
                <a:lnTo>
                  <a:pt x="220063" y="120650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行为记录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96000" y="28194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查看历史行为数据（睡眠、学习、运动、社交媒体、压力），支持分页和趋势图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795000" y="1587500"/>
            <a:ext cx="4699000" cy="304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12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11125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评估记录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12500" y="28194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查看 ML 评估结果历史，包含风险等级、抑郁概率、干预建议文本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5016500"/>
            <a:ext cx="4699000" cy="304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95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9565" y="25400"/>
                </a:moveTo>
                <a:lnTo>
                  <a:pt x="338667" y="25400"/>
                </a:lnTo>
                <a:cubicBezTo>
                  <a:pt x="376026" y="25400"/>
                  <a:pt x="406400" y="48181"/>
                  <a:pt x="406400" y="762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30374" y="25400"/>
                  <a:pt x="67733" y="25400"/>
                </a:cubicBezTo>
                <a:lnTo>
                  <a:pt x="76835" y="25400"/>
                </a:lnTo>
                <a:cubicBezTo>
                  <a:pt x="88477" y="10239"/>
                  <a:pt x="110384" y="0"/>
                  <a:pt x="135467" y="0"/>
                </a:cubicBezTo>
                <a:lnTo>
                  <a:pt x="270933" y="0"/>
                </a:lnTo>
                <a:cubicBezTo>
                  <a:pt x="296016" y="0"/>
                  <a:pt x="317923" y="10239"/>
                  <a:pt x="329565" y="25400"/>
                </a:cubicBezTo>
                <a:close/>
                <a:moveTo>
                  <a:pt x="262467" y="88900"/>
                </a:moveTo>
                <a:cubicBezTo>
                  <a:pt x="276543" y="88900"/>
                  <a:pt x="287867" y="80407"/>
                  <a:pt x="287867" y="69850"/>
                </a:cubicBezTo>
                <a:cubicBezTo>
                  <a:pt x="287867" y="59293"/>
                  <a:pt x="276543" y="50800"/>
                  <a:pt x="262467" y="50800"/>
                </a:cubicBezTo>
                <a:lnTo>
                  <a:pt x="143933" y="50800"/>
                </a:lnTo>
                <a:cubicBezTo>
                  <a:pt x="129858" y="50800"/>
                  <a:pt x="118533" y="59293"/>
                  <a:pt x="118533" y="69850"/>
                </a:cubicBezTo>
                <a:cubicBezTo>
                  <a:pt x="118533" y="80407"/>
                  <a:pt x="129858" y="88900"/>
                  <a:pt x="143933" y="88900"/>
                </a:cubicBezTo>
                <a:lnTo>
                  <a:pt x="262467" y="88900"/>
                </a:lnTo>
                <a:close/>
                <a:moveTo>
                  <a:pt x="292523" y="206931"/>
                </a:moveTo>
                <a:cubicBezTo>
                  <a:pt x="299932" y="198041"/>
                  <a:pt x="296333" y="186293"/>
                  <a:pt x="284480" y="180658"/>
                </a:cubicBezTo>
                <a:cubicBezTo>
                  <a:pt x="272627" y="175022"/>
                  <a:pt x="256963" y="177800"/>
                  <a:pt x="249449" y="186690"/>
                </a:cubicBezTo>
                <a:lnTo>
                  <a:pt x="184467" y="264716"/>
                </a:lnTo>
                <a:lnTo>
                  <a:pt x="155892" y="236141"/>
                </a:lnTo>
                <a:cubicBezTo>
                  <a:pt x="147426" y="227727"/>
                  <a:pt x="131551" y="225981"/>
                  <a:pt x="120332" y="232331"/>
                </a:cubicBezTo>
                <a:cubicBezTo>
                  <a:pt x="109114" y="238681"/>
                  <a:pt x="106786" y="250587"/>
                  <a:pt x="115252" y="259001"/>
                </a:cubicBezTo>
                <a:lnTo>
                  <a:pt x="166052" y="309801"/>
                </a:lnTo>
                <a:cubicBezTo>
                  <a:pt x="171027" y="314801"/>
                  <a:pt x="179070" y="317659"/>
                  <a:pt x="187431" y="317421"/>
                </a:cubicBezTo>
                <a:cubicBezTo>
                  <a:pt x="195792" y="317183"/>
                  <a:pt x="203412" y="313849"/>
                  <a:pt x="207857" y="308451"/>
                </a:cubicBezTo>
                <a:lnTo>
                  <a:pt x="292523" y="206851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584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心理测评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9500" y="62484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每周自评问卷，包含情绪状态、睡眠质量、学习状态、社交状态、生活满意度 5 个维度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778500" y="5016500"/>
            <a:ext cx="4699000" cy="304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14300"/>
                </a:moveTo>
                <a:cubicBezTo>
                  <a:pt x="270933" y="191452"/>
                  <a:pt x="210256" y="254000"/>
                  <a:pt x="135467" y="254000"/>
                </a:cubicBezTo>
                <a:cubicBezTo>
                  <a:pt x="116628" y="254000"/>
                  <a:pt x="98707" y="250031"/>
                  <a:pt x="82409" y="242888"/>
                </a:cubicBezTo>
                <a:lnTo>
                  <a:pt x="24836" y="277178"/>
                </a:lnTo>
                <a:cubicBezTo>
                  <a:pt x="18274" y="281067"/>
                  <a:pt x="10231" y="279717"/>
                  <a:pt x="4939" y="273844"/>
                </a:cubicBezTo>
                <a:cubicBezTo>
                  <a:pt x="-353" y="267970"/>
                  <a:pt x="-1552" y="258842"/>
                  <a:pt x="1976" y="251460"/>
                </a:cubicBezTo>
                <a:lnTo>
                  <a:pt x="27093" y="198120"/>
                </a:lnTo>
                <a:cubicBezTo>
                  <a:pt x="10089" y="174784"/>
                  <a:pt x="0" y="145733"/>
                  <a:pt x="0" y="114300"/>
                </a:cubicBezTo>
                <a:cubicBezTo>
                  <a:pt x="0" y="37147"/>
                  <a:pt x="60678" y="-25400"/>
                  <a:pt x="135467" y="-25400"/>
                </a:cubicBezTo>
                <a:cubicBezTo>
                  <a:pt x="210256" y="-25400"/>
                  <a:pt x="270933" y="37147"/>
                  <a:pt x="270933" y="114300"/>
                </a:cubicBezTo>
                <a:close/>
                <a:moveTo>
                  <a:pt x="270933" y="406400"/>
                </a:moveTo>
                <a:cubicBezTo>
                  <a:pt x="204541" y="406400"/>
                  <a:pt x="149296" y="357108"/>
                  <a:pt x="137724" y="292100"/>
                </a:cubicBezTo>
                <a:cubicBezTo>
                  <a:pt x="222391" y="290909"/>
                  <a:pt x="295981" y="223123"/>
                  <a:pt x="304094" y="131207"/>
                </a:cubicBezTo>
                <a:cubicBezTo>
                  <a:pt x="362867" y="146447"/>
                  <a:pt x="406400" y="201295"/>
                  <a:pt x="406400" y="266700"/>
                </a:cubicBezTo>
                <a:cubicBezTo>
                  <a:pt x="406400" y="298133"/>
                  <a:pt x="396311" y="327184"/>
                  <a:pt x="379307" y="350520"/>
                </a:cubicBezTo>
                <a:lnTo>
                  <a:pt x="404424" y="403860"/>
                </a:lnTo>
                <a:cubicBezTo>
                  <a:pt x="407882" y="411242"/>
                  <a:pt x="406682" y="420291"/>
                  <a:pt x="401461" y="426244"/>
                </a:cubicBezTo>
                <a:cubicBezTo>
                  <a:pt x="396240" y="432197"/>
                  <a:pt x="388126" y="433546"/>
                  <a:pt x="381564" y="429578"/>
                </a:cubicBezTo>
                <a:lnTo>
                  <a:pt x="323991" y="395288"/>
                </a:lnTo>
                <a:cubicBezTo>
                  <a:pt x="307693" y="402431"/>
                  <a:pt x="289772" y="406400"/>
                  <a:pt x="270933" y="406400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30" name="Text 28"/>
          <p:cNvSpPr/>
          <p:nvPr/>
        </p:nvSpPr>
        <p:spPr>
          <a:xfrm>
            <a:off x="6096000" y="584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测评记录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96000" y="62484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查看历史测评结果及辅导员回复，形成完整的测评追踪闭环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辅导员端功能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6604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功能模块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详细说明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工作台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统计概览（学生总数、高风险人数、平均压力、抑郁率）、风险分布饼图、各院系抑郁率柱状图、辅导员汇报展示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学生管理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学生列表（支持学号/姓名搜索、院系/性别/风险等级筛选）、学生详情查看、触发单人/批量 ML 评估、更新辅导员备注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预警信息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高风险预警列表（支持性别/已读状态筛选）、标记已读/全部已读、点击跳转学生详情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每周测评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查看学生自评列表（按情感分升序排列，最消极优先）、NLP 情感分析（情感分、关键词、心理主题）、回复学生留言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定期上报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辅导员每周汇报本院系学生整体心理状态、异常情况、重点关注学生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管理员端功能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6604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功能模块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详细说明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统计分析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各院系抑郁率对比、12 周趋势图（平均压力 + 抑郁人数）、压力水平分布、院系总览表格、SQL 优化演示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统计检验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 检验（高/低风险组差异）、卡方检验（性别与抑郁关联）、Pearson/Spearman 相关性分析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群体画像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K-Means 聚类（K=4）+ PCA 降维可视化、20+ 种智能群体命名、散点图 + 雷达图 + 特征分布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预警总览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查看所有院系的高风险预警信息，全局掌控学生心理健康态势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注册辅导员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创建新的辅导员账号，分配院系；拥有全部辅导员功能的访问权限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1_Neural_Network_Grid_Visualization.png"/>
          <p:cNvPicPr>
            <a:picLocks noChangeAspect="1"/>
          </p:cNvPicPr>
          <p:nvPr/>
        </p:nvPicPr>
        <p:blipFill>
          <a:blip r:embed="rId3"/>
          <a:srcRect t="3594" b="35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4000"/>
                </a:srgbClr>
              </a:gs>
              <a:gs pos="6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数据库设计与优化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核心表结构、视图、触发器与SQL优化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演讲者3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核心表结构与视图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表名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关键字段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预估行数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student_info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学生基本信息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student_id (PK), name, age, gender, department, cgpa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100,000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behavior_log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行为记录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student_id (FK), record_date, sleep_duration, study_hours, social_media_hours, stress_level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~1,200,000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mental_assessment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ML评估结果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student_id (FK), assessment_date, depression_probability, risk_level, intervention_text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~100,000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counselor_user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辅导员账号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username, password_hash, display_name, department, is_admin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risk_notification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高风险预警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student_id (FK), risk_level, message, is_read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weekly_assessment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学生每周自评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student_id (FK), mood_score, sleep_quality, overall_score, sentiment_score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counselor_report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辅导员汇报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counselor_id (FK), department, report_week, overall_status, key_students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视图与触发器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62000" y="6540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Shape 12"/>
          <p:cNvSpPr/>
          <p:nvPr/>
        </p:nvSpPr>
        <p:spPr>
          <a:xfrm>
            <a:off x="762000" y="6731000"/>
            <a:ext cx="4699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6858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v_latest_assessment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每个学生的最新评估记录，用于快速查询当前风险状态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778500" y="6731000"/>
            <a:ext cx="4699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Text 15"/>
          <p:cNvSpPr/>
          <p:nvPr/>
        </p:nvSpPr>
        <p:spPr>
          <a:xfrm>
            <a:off x="6032500" y="6858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v_student_behavior_summary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每个学生的行为数据汇总（平均压力、睡眠等）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795000" y="6731000"/>
            <a:ext cx="4699000" cy="1270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20" name="Text 17"/>
          <p:cNvSpPr/>
          <p:nvPr/>
        </p:nvSpPr>
        <p:spPr>
          <a:xfrm>
            <a:off x="11049000" y="6858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trg_high_risk_alert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高风险评估自动触发预警通知（INSERT 触发器）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查询优化策略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175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优化手段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应用场景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性能提升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覆盖索引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MAX(id) GROUP BY student_id 模式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避免全表扫描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CTE + ROW_NUMBER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获取每个学生最新记录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替代关联子查询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预聚合表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周维度统计数据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C45C3C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从秒级降到毫秒级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窗口函数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批量评估、排名查询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减少数据库往返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索引设计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高频查询路径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覆盖索引减少回表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典型案例：周趋势数据查询优化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62000" y="54356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5651500"/>
            <a:ext cx="7048500" cy="24765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2" name="Text 13"/>
          <p:cNvSpPr/>
          <p:nvPr/>
        </p:nvSpPr>
        <p:spPr>
          <a:xfrm>
            <a:off x="1016000" y="57785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优化前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6000" y="61595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每次请求扫描 </a:t>
            </a:r>
            <a:r>
              <a:rPr lang="en-US" sz="14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百万行</a:t>
            </a:r>
            <a:r>
              <a:rPr lang="en-US" sz="14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原始数据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DATE_FORMAT(record_date, '%x-W%v') AS week, AVG(stress_level) FROM behavior_log GROUP BY week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C45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 查询耗时：秒级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445500" y="5651500"/>
            <a:ext cx="7048500" cy="247650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19" name="Text 16"/>
          <p:cNvSpPr/>
          <p:nvPr/>
        </p:nvSpPr>
        <p:spPr>
          <a:xfrm>
            <a:off x="8699500" y="5778500"/>
            <a:ext cx="127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6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优化后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99500" y="61595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直接读预聚合表，仅 </a:t>
            </a:r>
            <a:r>
              <a:rPr lang="en-US" sz="14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~60 行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year_week, avg_stress FROM weekly_behavior_stats WHERE department = '__ALL__'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D6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查询耗时：毫秒级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5_Abstract_Deep_Learning_Visualization.png"/>
          <p:cNvPicPr>
            <a:picLocks noChangeAspect="1"/>
          </p:cNvPicPr>
          <p:nvPr/>
        </p:nvPicPr>
        <p:blipFill>
          <a:blip r:embed="rId3"/>
          <a:srcRect t="4082" b="408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4000"/>
                </a:srgbClr>
              </a:gs>
              <a:gs pos="6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机器学习模型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特征工程、模型训练与风险预警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演讲者4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特征工程与模型训练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原始特征（10个）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7048500" cy="3244850"/>
        </p:xfrm>
        <a:graphic>
          <a:graphicData uri="http://schemas.openxmlformats.org/drawingml/2006/table">
            <a:tbl>
              <a:tblPr/>
              <a:tblGrid>
                <a:gridCol w="24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特征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年龄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gender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类别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性别（Male/Female）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department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类别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院系（5 类）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cgpa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学分绩点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sleep_duration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每晚睡眠时长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study_hours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每日学习时长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social_media_hours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每日社交媒体时长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physical_activity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每周运动时长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stress_level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数值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压力水平（1-10）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4455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派生特征（3个）</a:t>
            </a:r>
            <a:endParaRPr lang="en-US" sz="18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5500" y="1968500"/>
          <a:ext cx="7048500" cy="1651000"/>
        </p:xfrm>
        <a:graphic>
          <a:graphicData uri="http://schemas.openxmlformats.org/drawingml/2006/table">
            <a:tbl>
              <a:tblPr/>
              <a:tblGrid>
                <a:gridCol w="24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特征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计算方式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sleep_stress_ratio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sleep_duration / (stress_level + 1)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social_activity_ratio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social_media_hours / (activity/60 + 0.1)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study_efficiency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cgpa / (study_hours + 0.1)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84455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模型训练流程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445500" y="4445000"/>
            <a:ext cx="70485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13" name="Text 14"/>
          <p:cNvSpPr/>
          <p:nvPr/>
        </p:nvSpPr>
        <p:spPr>
          <a:xfrm>
            <a:off x="8445500" y="4445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原始数据 100,000 条 → 特征工程（16 个特征）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1938000" y="4953000"/>
            <a:ext cx="0" cy="254000"/>
          </a:xfrm>
          <a:prstGeom prst="straightConnector1">
            <a:avLst/>
          </a:prstGeom>
          <a:noFill/>
          <a:ln w="25400">
            <a:solidFill>
              <a:srgbClr val="8A9BAE"/>
            </a:solidFill>
            <a:prstDash val="solid"/>
            <a:headEnd type="none"/>
            <a:tailEnd type="arrow"/>
          </a:ln>
        </p:spPr>
      </p:sp>
      <p:sp>
        <p:nvSpPr>
          <p:cNvPr id="20" name="Shape 16"/>
          <p:cNvSpPr/>
          <p:nvPr/>
        </p:nvSpPr>
        <p:spPr>
          <a:xfrm>
            <a:off x="8445500" y="5207000"/>
            <a:ext cx="7048500" cy="508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21" name="Text 17"/>
          <p:cNvSpPr/>
          <p:nvPr/>
        </p:nvSpPr>
        <p:spPr>
          <a:xfrm>
            <a:off x="8445500" y="5207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4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Class_weight</a:t>
            </a:r>
            <a:r>
              <a:rPr lang="zh-CN" alt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类别权重平衡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</a:t>
            </a:r>
            <a:r>
              <a:rPr lang="zh-CN" alt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避免合成噪声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）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1938000" y="5715000"/>
            <a:ext cx="0" cy="254000"/>
          </a:xfrm>
          <a:prstGeom prst="straightConnector1">
            <a:avLst/>
          </a:prstGeom>
          <a:noFill/>
          <a:ln w="25400">
            <a:solidFill>
              <a:srgbClr val="8A9BAE"/>
            </a:solidFill>
            <a:prstDash val="solid"/>
            <a:headEnd type="none"/>
            <a:tailEnd type="arrow"/>
          </a:ln>
        </p:spPr>
      </p:sp>
      <p:sp>
        <p:nvSpPr>
          <p:cNvPr id="23" name="Shape 19"/>
          <p:cNvSpPr/>
          <p:nvPr/>
        </p:nvSpPr>
        <p:spPr>
          <a:xfrm>
            <a:off x="8445500" y="5969000"/>
            <a:ext cx="70485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24" name="Text 20"/>
          <p:cNvSpPr/>
          <p:nvPr/>
        </p:nvSpPr>
        <p:spPr>
          <a:xfrm>
            <a:off x="8445500" y="5969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+ GridSearchCV（5 折交叉验证）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1938000" y="6477000"/>
            <a:ext cx="0" cy="254000"/>
          </a:xfrm>
          <a:prstGeom prst="straightConnector1">
            <a:avLst/>
          </a:prstGeom>
          <a:noFill/>
          <a:ln w="25400">
            <a:solidFill>
              <a:srgbClr val="8A9BAE"/>
            </a:solidFill>
            <a:prstDash val="solid"/>
            <a:headEnd type="none"/>
            <a:tailEnd type="arrow"/>
          </a:ln>
        </p:spPr>
      </p:sp>
      <p:sp>
        <p:nvSpPr>
          <p:cNvPr id="26" name="Shape 22"/>
          <p:cNvSpPr/>
          <p:nvPr/>
        </p:nvSpPr>
        <p:spPr>
          <a:xfrm>
            <a:off x="8445500" y="6731000"/>
            <a:ext cx="7048500" cy="508000"/>
          </a:xfrm>
          <a:prstGeom prst="rect">
            <a:avLst/>
          </a:prstGeom>
          <a:solidFill>
            <a:srgbClr val="2D6A3F"/>
          </a:solidFill>
          <a:ln/>
        </p:spPr>
      </p:sp>
      <p:sp>
        <p:nvSpPr>
          <p:cNvPr id="27" name="Text 23"/>
          <p:cNvSpPr/>
          <p:nvPr/>
        </p:nvSpPr>
        <p:spPr>
          <a:xfrm>
            <a:off x="8445500" y="6731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最佳模型 → model.pkl, scaler.pkl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风险分级与干预建议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三级风险分级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4699000" cy="1270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2159000"/>
            <a:ext cx="374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高风险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预测为抑郁 或 压力值 ≥ 8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78500" y="2032000"/>
            <a:ext cx="4699000" cy="1270000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25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15100" y="2159000"/>
            <a:ext cx="374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中风险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压力值 ≥ 6（且不满足高风险）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795000" y="2032000"/>
            <a:ext cx="4699000" cy="12700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49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531600" y="2159000"/>
            <a:ext cx="374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低风险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其他情况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种干预建议模板（6 大类别）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27500"/>
          <a:ext cx="14732000" cy="3933063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类别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模板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触发条件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压力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高压预警 / 中等压力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stress ≥ 8 / ≥ 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睡眠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严重不足 / 不足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sleep &lt; 4h / &lt; 6h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运动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缺乏 / 可提升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activity &lt; 60 / &lt; 120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社交媒体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过度 / 提醒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social &gt; 4h / &gt; 2h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学习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过劳 / 不足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study ≥ 10h / ≤ 2h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抑郁风险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专项提示（含 24h 危机热线）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概率 ≥ 30% 或模型预测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9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综合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良好 / 轻度关注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A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无明显问题时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8__2754366891_Shutterstock.png"/>
          <p:cNvPicPr>
            <a:picLocks noChangeAspect="1"/>
          </p:cNvPicPr>
          <p:nvPr/>
        </p:nvPicPr>
        <p:blipFill>
          <a:blip r:embed="rId3"/>
          <a:srcRect l="20719" r="2071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4000"/>
                </a:srgbClr>
              </a:gs>
              <a:gs pos="6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前端功能展示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辅导员工作台、统计分析、群体画像与NLP分析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演讲者4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辅导员工作台与统计分析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辅导员工作台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3429000" cy="1270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6670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学生总数 / 高风险人数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45000" y="2032000"/>
            <a:ext cx="3429000" cy="1270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99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99000" y="26670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平均压力 / 抑郁率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3556000"/>
            <a:ext cx="3429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2D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1910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风险分布饼图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45000" y="3556000"/>
            <a:ext cx="3429000" cy="1270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699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88900" y="66675"/>
                </a:moveTo>
                <a:cubicBezTo>
                  <a:pt x="88900" y="54382"/>
                  <a:pt x="98832" y="44450"/>
                  <a:pt x="111125" y="44450"/>
                </a:cubicBezTo>
                <a:lnTo>
                  <a:pt x="244475" y="44450"/>
                </a:lnTo>
                <a:cubicBezTo>
                  <a:pt x="256768" y="44450"/>
                  <a:pt x="266700" y="54382"/>
                  <a:pt x="266700" y="66675"/>
                </a:cubicBezTo>
                <a:cubicBezTo>
                  <a:pt x="266700" y="78968"/>
                  <a:pt x="256768" y="88900"/>
                  <a:pt x="244475" y="88900"/>
                </a:cubicBezTo>
                <a:lnTo>
                  <a:pt x="111125" y="88900"/>
                </a:lnTo>
                <a:cubicBezTo>
                  <a:pt x="98832" y="88900"/>
                  <a:pt x="88900" y="78968"/>
                  <a:pt x="88900" y="66675"/>
                </a:cubicBezTo>
                <a:close/>
                <a:moveTo>
                  <a:pt x="111125" y="122238"/>
                </a:moveTo>
                <a:lnTo>
                  <a:pt x="200025" y="122238"/>
                </a:lnTo>
                <a:cubicBezTo>
                  <a:pt x="212318" y="122238"/>
                  <a:pt x="222250" y="132169"/>
                  <a:pt x="222250" y="144463"/>
                </a:cubicBezTo>
                <a:cubicBezTo>
                  <a:pt x="222250" y="156756"/>
                  <a:pt x="212318" y="166688"/>
                  <a:pt x="200025" y="166688"/>
                </a:cubicBezTo>
                <a:lnTo>
                  <a:pt x="111125" y="166688"/>
                </a:lnTo>
                <a:cubicBezTo>
                  <a:pt x="98832" y="166688"/>
                  <a:pt x="88900" y="156756"/>
                  <a:pt x="88900" y="144463"/>
                </a:cubicBezTo>
                <a:cubicBezTo>
                  <a:pt x="88900" y="132169"/>
                  <a:pt x="98832" y="122238"/>
                  <a:pt x="111125" y="122238"/>
                </a:cubicBezTo>
                <a:close/>
                <a:moveTo>
                  <a:pt x="111125" y="200025"/>
                </a:move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111125" y="244475"/>
                </a:lnTo>
                <a:cubicBezTo>
                  <a:pt x="98832" y="244475"/>
                  <a:pt x="88900" y="234543"/>
                  <a:pt x="88900" y="222250"/>
                </a:cubicBezTo>
                <a:cubicBezTo>
                  <a:pt x="88900" y="209957"/>
                  <a:pt x="98832" y="200025"/>
                  <a:pt x="111125" y="200025"/>
                </a:cubicBezTo>
                <a:close/>
              </a:path>
            </a:pathLst>
          </a:custGeom>
          <a:solidFill>
            <a:srgbClr val="2D4A5E"/>
          </a:solidFill>
          <a:ln/>
        </p:spPr>
      </p:sp>
      <p:sp>
        <p:nvSpPr>
          <p:cNvPr id="24" name="Text 22"/>
          <p:cNvSpPr/>
          <p:nvPr/>
        </p:nvSpPr>
        <p:spPr>
          <a:xfrm>
            <a:off x="4699000" y="41910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各院系抑郁率柱状图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455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统计分析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45500" y="2032000"/>
            <a:ext cx="70485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7" name="Shape 25"/>
          <p:cNvSpPr/>
          <p:nvPr/>
        </p:nvSpPr>
        <p:spPr>
          <a:xfrm>
            <a:off x="86995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8" name="Text 26"/>
          <p:cNvSpPr/>
          <p:nvPr/>
        </p:nvSpPr>
        <p:spPr>
          <a:xfrm>
            <a:off x="9207500" y="2095500"/>
            <a:ext cx="603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周趋势折线图</a:t>
            </a: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：12 周平均压力 + 抑郁人数趋势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45500" y="3238500"/>
            <a:ext cx="70485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30" name="Shape 28"/>
          <p:cNvSpPr/>
          <p:nvPr/>
        </p:nvSpPr>
        <p:spPr>
          <a:xfrm>
            <a:off x="8699500" y="349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8931" y="38894"/>
                </a:moveTo>
                <a:cubicBezTo>
                  <a:pt x="338931" y="29656"/>
                  <a:pt x="331500" y="22225"/>
                  <a:pt x="322263" y="22225"/>
                </a:cubicBezTo>
                <a:cubicBezTo>
                  <a:pt x="313025" y="22225"/>
                  <a:pt x="305594" y="29656"/>
                  <a:pt x="305594" y="38894"/>
                </a:cubicBezTo>
                <a:lnTo>
                  <a:pt x="305594" y="316706"/>
                </a:lnTo>
                <a:cubicBezTo>
                  <a:pt x="305594" y="325944"/>
                  <a:pt x="313025" y="333375"/>
                  <a:pt x="322263" y="333375"/>
                </a:cubicBezTo>
                <a:cubicBezTo>
                  <a:pt x="331500" y="333375"/>
                  <a:pt x="338931" y="325944"/>
                  <a:pt x="338931" y="316706"/>
                </a:cubicBezTo>
                <a:lnTo>
                  <a:pt x="338931" y="38894"/>
                </a:lnTo>
                <a:close/>
                <a:moveTo>
                  <a:pt x="250031" y="88900"/>
                </a:moveTo>
                <a:cubicBezTo>
                  <a:pt x="240794" y="88900"/>
                  <a:pt x="233363" y="96331"/>
                  <a:pt x="233363" y="105569"/>
                </a:cubicBezTo>
                <a:lnTo>
                  <a:pt x="233363" y="316706"/>
                </a:lnTo>
                <a:cubicBezTo>
                  <a:pt x="233363" y="325944"/>
                  <a:pt x="240794" y="333375"/>
                  <a:pt x="250031" y="333375"/>
                </a:cubicBezTo>
                <a:cubicBezTo>
                  <a:pt x="259269" y="333375"/>
                  <a:pt x="266700" y="325944"/>
                  <a:pt x="266700" y="316706"/>
                </a:cubicBezTo>
                <a:lnTo>
                  <a:pt x="266700" y="105569"/>
                </a:lnTo>
                <a:cubicBezTo>
                  <a:pt x="266700" y="96331"/>
                  <a:pt x="259269" y="88900"/>
                  <a:pt x="250031" y="88900"/>
                </a:cubicBezTo>
                <a:close/>
                <a:moveTo>
                  <a:pt x="194469" y="172244"/>
                </a:moveTo>
                <a:cubicBezTo>
                  <a:pt x="194469" y="163006"/>
                  <a:pt x="187037" y="155575"/>
                  <a:pt x="177800" y="155575"/>
                </a:cubicBezTo>
                <a:cubicBezTo>
                  <a:pt x="168563" y="155575"/>
                  <a:pt x="161131" y="163006"/>
                  <a:pt x="161131" y="172244"/>
                </a:cubicBezTo>
                <a:lnTo>
                  <a:pt x="161131" y="316706"/>
                </a:lnTo>
                <a:cubicBezTo>
                  <a:pt x="161131" y="325944"/>
                  <a:pt x="168563" y="333375"/>
                  <a:pt x="177800" y="333375"/>
                </a:cubicBezTo>
                <a:cubicBezTo>
                  <a:pt x="187037" y="333375"/>
                  <a:pt x="194469" y="325944"/>
                  <a:pt x="194469" y="316706"/>
                </a:cubicBezTo>
                <a:lnTo>
                  <a:pt x="194469" y="172244"/>
                </a:lnTo>
                <a:close/>
                <a:moveTo>
                  <a:pt x="105569" y="222250"/>
                </a:moveTo>
                <a:cubicBezTo>
                  <a:pt x="96331" y="222250"/>
                  <a:pt x="88900" y="229681"/>
                  <a:pt x="88900" y="238919"/>
                </a:cubicBezTo>
                <a:lnTo>
                  <a:pt x="88900" y="316706"/>
                </a:lnTo>
                <a:cubicBezTo>
                  <a:pt x="88900" y="325944"/>
                  <a:pt x="96331" y="333375"/>
                  <a:pt x="105569" y="333375"/>
                </a:cubicBezTo>
                <a:cubicBezTo>
                  <a:pt x="114806" y="333375"/>
                  <a:pt x="122238" y="325944"/>
                  <a:pt x="122238" y="316706"/>
                </a:cubicBezTo>
                <a:lnTo>
                  <a:pt x="122238" y="238919"/>
                </a:lnTo>
                <a:cubicBezTo>
                  <a:pt x="122238" y="229681"/>
                  <a:pt x="114806" y="222250"/>
                  <a:pt x="105569" y="222250"/>
                </a:cubicBezTo>
                <a:close/>
                <a:moveTo>
                  <a:pt x="33337" y="266700"/>
                </a:moveTo>
                <a:cubicBezTo>
                  <a:pt x="24100" y="266700"/>
                  <a:pt x="16669" y="274131"/>
                  <a:pt x="16669" y="283369"/>
                </a:cubicBezTo>
                <a:lnTo>
                  <a:pt x="16669" y="316706"/>
                </a:lnTo>
                <a:cubicBezTo>
                  <a:pt x="16669" y="325944"/>
                  <a:pt x="24100" y="333375"/>
                  <a:pt x="33337" y="333375"/>
                </a:cubicBezTo>
                <a:cubicBezTo>
                  <a:pt x="42575" y="333375"/>
                  <a:pt x="50006" y="325944"/>
                  <a:pt x="50006" y="316706"/>
                </a:cubicBezTo>
                <a:lnTo>
                  <a:pt x="50006" y="283369"/>
                </a:lnTo>
                <a:cubicBezTo>
                  <a:pt x="50006" y="274131"/>
                  <a:pt x="42575" y="266700"/>
                  <a:pt x="33337" y="266700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31" name="Text 29"/>
          <p:cNvSpPr/>
          <p:nvPr/>
        </p:nvSpPr>
        <p:spPr>
          <a:xfrm>
            <a:off x="9207500" y="3302000"/>
            <a:ext cx="603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压力分布柱状图</a:t>
            </a: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：各压力等级人数分布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45500" y="4445000"/>
            <a:ext cx="7048500" cy="101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33" name="Shape 31"/>
          <p:cNvSpPr/>
          <p:nvPr/>
        </p:nvSpPr>
        <p:spPr>
          <a:xfrm>
            <a:off x="86995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3200" y="111125"/>
                </a:moveTo>
                <a:lnTo>
                  <a:pt x="203200" y="177800"/>
                </a:lnTo>
                <a:lnTo>
                  <a:pt x="304800" y="177800"/>
                </a:lnTo>
                <a:lnTo>
                  <a:pt x="304800" y="111125"/>
                </a:lnTo>
                <a:lnTo>
                  <a:pt x="203200" y="111125"/>
                </a:lnTo>
                <a:close/>
                <a:moveTo>
                  <a:pt x="152400" y="111125"/>
                </a:moveTo>
                <a:lnTo>
                  <a:pt x="50800" y="111125"/>
                </a:lnTo>
                <a:lnTo>
                  <a:pt x="50800" y="177800"/>
                </a:lnTo>
                <a:lnTo>
                  <a:pt x="152400" y="177800"/>
                </a:lnTo>
                <a:lnTo>
                  <a:pt x="152400" y="111125"/>
                </a:lnTo>
                <a:close/>
                <a:moveTo>
                  <a:pt x="0" y="222250"/>
                </a:moveTo>
                <a:lnTo>
                  <a:pt x="0" y="66675"/>
                </a:lnTo>
                <a:cubicBezTo>
                  <a:pt x="0" y="42158"/>
                  <a:pt x="22781" y="22225"/>
                  <a:pt x="50800" y="22225"/>
                </a:cubicBezTo>
                <a:lnTo>
                  <a:pt x="304800" y="22225"/>
                </a:lnTo>
                <a:cubicBezTo>
                  <a:pt x="332819" y="22225"/>
                  <a:pt x="355600" y="42158"/>
                  <a:pt x="355600" y="66675"/>
                </a:cubicBezTo>
                <a:lnTo>
                  <a:pt x="355600" y="288925"/>
                </a:lnTo>
                <a:cubicBezTo>
                  <a:pt x="355600" y="313442"/>
                  <a:pt x="332819" y="333375"/>
                  <a:pt x="304800" y="333375"/>
                </a:cubicBezTo>
                <a:lnTo>
                  <a:pt x="50800" y="333375"/>
                </a:lnTo>
                <a:cubicBezTo>
                  <a:pt x="22781" y="333375"/>
                  <a:pt x="0" y="313442"/>
                  <a:pt x="0" y="288925"/>
                </a:cubicBezTo>
                <a:lnTo>
                  <a:pt x="0" y="222250"/>
                </a:lnTo>
                <a:close/>
                <a:moveTo>
                  <a:pt x="304800" y="222250"/>
                </a:moveTo>
                <a:lnTo>
                  <a:pt x="203200" y="222250"/>
                </a:lnTo>
                <a:lnTo>
                  <a:pt x="203200" y="288925"/>
                </a:lnTo>
                <a:lnTo>
                  <a:pt x="304800" y="288925"/>
                </a:lnTo>
                <a:lnTo>
                  <a:pt x="304800" y="222250"/>
                </a:lnTo>
                <a:close/>
                <a:moveTo>
                  <a:pt x="152400" y="288925"/>
                </a:moveTo>
                <a:lnTo>
                  <a:pt x="152400" y="222250"/>
                </a:lnTo>
                <a:lnTo>
                  <a:pt x="50800" y="222250"/>
                </a:lnTo>
                <a:lnTo>
                  <a:pt x="50800" y="288925"/>
                </a:lnTo>
                <a:lnTo>
                  <a:pt x="152400" y="288925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34" name="Text 32"/>
          <p:cNvSpPr/>
          <p:nvPr/>
        </p:nvSpPr>
        <p:spPr>
          <a:xfrm>
            <a:off x="9207500" y="4508500"/>
            <a:ext cx="603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院系总览表格</a:t>
            </a: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：学生数、平均压力、绩点、抑郁率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各学院辅导员汇报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2000" y="57531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7" name="Shape 35"/>
          <p:cNvSpPr/>
          <p:nvPr/>
        </p:nvSpPr>
        <p:spPr>
          <a:xfrm>
            <a:off x="762000" y="5969000"/>
            <a:ext cx="4699000" cy="2032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000" y="6159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计算机学院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整体状态：良好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异常案例：2 例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重点关注：3 人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群体画像与 NLP 分析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群体画像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7048500" cy="889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20320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聚类（K=4）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：基于 5 个行为维度进行学生分群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1115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1115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20+ 种智能群体命名</a:t>
            </a: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：高压失眠型、学业专注型、运动达人型等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1910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 散点图</a:t>
            </a: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：2D 降维可视化展示聚类分布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2705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2705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雷达图 + 特征分布图</a:t>
            </a: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：各聚类特征对比与详细统计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55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每周测评 NLP 分析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45500" y="2032000"/>
            <a:ext cx="7048500" cy="1397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6995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3990" y="297339"/>
                </a:moveTo>
                <a:lnTo>
                  <a:pt x="106257" y="373539"/>
                </a:lnTo>
                <a:cubicBezTo>
                  <a:pt x="97437" y="383461"/>
                  <a:pt x="83114" y="383461"/>
                  <a:pt x="74295" y="373539"/>
                </a:cubicBezTo>
                <a:lnTo>
                  <a:pt x="6562" y="297339"/>
                </a:lnTo>
                <a:cubicBezTo>
                  <a:pt x="-2258" y="287417"/>
                  <a:pt x="-2258" y="271304"/>
                  <a:pt x="6562" y="261382"/>
                </a:cubicBezTo>
                <a:cubicBezTo>
                  <a:pt x="15381" y="251460"/>
                  <a:pt x="29704" y="251460"/>
                  <a:pt x="38523" y="261382"/>
                </a:cubicBezTo>
                <a:lnTo>
                  <a:pt x="67733" y="294243"/>
                </a:lnTo>
                <a:lnTo>
                  <a:pt x="67733" y="50800"/>
                </a:lnTo>
                <a:cubicBezTo>
                  <a:pt x="67733" y="36751"/>
                  <a:pt x="77823" y="25400"/>
                  <a:pt x="90311" y="25400"/>
                </a:cubicBezTo>
                <a:cubicBezTo>
                  <a:pt x="102799" y="25400"/>
                  <a:pt x="112889" y="36751"/>
                  <a:pt x="112889" y="50800"/>
                </a:cubicBezTo>
                <a:lnTo>
                  <a:pt x="112889" y="294243"/>
                </a:lnTo>
                <a:lnTo>
                  <a:pt x="142099" y="261382"/>
                </a:lnTo>
                <a:cubicBezTo>
                  <a:pt x="150918" y="251460"/>
                  <a:pt x="165241" y="251460"/>
                  <a:pt x="174061" y="261382"/>
                </a:cubicBezTo>
                <a:cubicBezTo>
                  <a:pt x="182880" y="271304"/>
                  <a:pt x="182880" y="287417"/>
                  <a:pt x="174061" y="297339"/>
                </a:cubicBezTo>
                <a:close/>
                <a:moveTo>
                  <a:pt x="225778" y="381000"/>
                </a:moveTo>
                <a:cubicBezTo>
                  <a:pt x="213289" y="381000"/>
                  <a:pt x="203200" y="369649"/>
                  <a:pt x="203200" y="355600"/>
                </a:cubicBezTo>
                <a:cubicBezTo>
                  <a:pt x="203200" y="341551"/>
                  <a:pt x="213289" y="330200"/>
                  <a:pt x="225778" y="330200"/>
                </a:cubicBezTo>
                <a:lnTo>
                  <a:pt x="248356" y="330200"/>
                </a:lnTo>
                <a:cubicBezTo>
                  <a:pt x="260844" y="330200"/>
                  <a:pt x="270933" y="341551"/>
                  <a:pt x="270933" y="355600"/>
                </a:cubicBezTo>
                <a:cubicBezTo>
                  <a:pt x="270933" y="369649"/>
                  <a:pt x="260844" y="381000"/>
                  <a:pt x="248356" y="381000"/>
                </a:cubicBezTo>
                <a:lnTo>
                  <a:pt x="225778" y="381000"/>
                </a:lnTo>
                <a:close/>
                <a:moveTo>
                  <a:pt x="225778" y="279400"/>
                </a:moveTo>
                <a:cubicBezTo>
                  <a:pt x="213289" y="279400"/>
                  <a:pt x="203200" y="268049"/>
                  <a:pt x="203200" y="254000"/>
                </a:cubicBezTo>
                <a:cubicBezTo>
                  <a:pt x="203200" y="239951"/>
                  <a:pt x="213289" y="228600"/>
                  <a:pt x="225778" y="228600"/>
                </a:cubicBezTo>
                <a:lnTo>
                  <a:pt x="293511" y="228600"/>
                </a:lnTo>
                <a:cubicBezTo>
                  <a:pt x="305999" y="228600"/>
                  <a:pt x="316089" y="239951"/>
                  <a:pt x="316089" y="254000"/>
                </a:cubicBezTo>
                <a:cubicBezTo>
                  <a:pt x="316089" y="268049"/>
                  <a:pt x="305999" y="279400"/>
                  <a:pt x="293511" y="279400"/>
                </a:cubicBezTo>
                <a:lnTo>
                  <a:pt x="225778" y="279400"/>
                </a:lnTo>
                <a:close/>
                <a:moveTo>
                  <a:pt x="225778" y="177800"/>
                </a:moveTo>
                <a:cubicBezTo>
                  <a:pt x="213289" y="177800"/>
                  <a:pt x="203200" y="166449"/>
                  <a:pt x="203200" y="152400"/>
                </a:cubicBezTo>
                <a:cubicBezTo>
                  <a:pt x="203200" y="138351"/>
                  <a:pt x="213289" y="127000"/>
                  <a:pt x="225778" y="127000"/>
                </a:cubicBezTo>
                <a:lnTo>
                  <a:pt x="338667" y="127000"/>
                </a:lnTo>
                <a:cubicBezTo>
                  <a:pt x="351155" y="127000"/>
                  <a:pt x="361244" y="138351"/>
                  <a:pt x="361244" y="152400"/>
                </a:cubicBezTo>
                <a:cubicBezTo>
                  <a:pt x="361244" y="166449"/>
                  <a:pt x="351155" y="177800"/>
                  <a:pt x="338667" y="177800"/>
                </a:cubicBezTo>
                <a:lnTo>
                  <a:pt x="225778" y="177800"/>
                </a:lnTo>
                <a:close/>
                <a:moveTo>
                  <a:pt x="225778" y="76200"/>
                </a:moveTo>
                <a:cubicBezTo>
                  <a:pt x="213289" y="76200"/>
                  <a:pt x="203200" y="64849"/>
                  <a:pt x="203200" y="50800"/>
                </a:cubicBezTo>
                <a:cubicBezTo>
                  <a:pt x="203200" y="36751"/>
                  <a:pt x="213289" y="25400"/>
                  <a:pt x="225778" y="25400"/>
                </a:cubicBezTo>
                <a:lnTo>
                  <a:pt x="383822" y="25400"/>
                </a:lnTo>
                <a:cubicBezTo>
                  <a:pt x="396311" y="25400"/>
                  <a:pt x="406400" y="36751"/>
                  <a:pt x="406400" y="50800"/>
                </a:cubicBezTo>
                <a:cubicBezTo>
                  <a:pt x="406400" y="64849"/>
                  <a:pt x="396311" y="76200"/>
                  <a:pt x="383822" y="76200"/>
                </a:cubicBezTo>
                <a:lnTo>
                  <a:pt x="225778" y="76200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4" name="Text 22"/>
          <p:cNvSpPr/>
          <p:nvPr/>
        </p:nvSpPr>
        <p:spPr>
          <a:xfrm>
            <a:off x="9271000" y="2159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情感分排序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按情感分升序排列，最消极的学生优先展示，便于辅导员快速定位需关注学生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45500" y="3619500"/>
            <a:ext cx="7048500" cy="1397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6" name="Shape 24"/>
          <p:cNvSpPr/>
          <p:nvPr/>
        </p:nvSpPr>
        <p:spPr>
          <a:xfrm>
            <a:off x="86995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381000"/>
                </a:moveTo>
                <a:cubicBezTo>
                  <a:pt x="315436" y="381000"/>
                  <a:pt x="406400" y="295672"/>
                  <a:pt x="406400" y="190500"/>
                </a:cubicBezTo>
                <a:cubicBezTo>
                  <a:pt x="406400" y="85328"/>
                  <a:pt x="315436" y="0"/>
                  <a:pt x="203200" y="0"/>
                </a:cubicBezTo>
                <a:cubicBezTo>
                  <a:pt x="90964" y="0"/>
                  <a:pt x="0" y="85328"/>
                  <a:pt x="0" y="190500"/>
                </a:cubicBezTo>
                <a:cubicBezTo>
                  <a:pt x="0" y="233601"/>
                  <a:pt x="15240" y="273288"/>
                  <a:pt x="40958" y="305197"/>
                </a:cubicBezTo>
                <a:lnTo>
                  <a:pt x="2223" y="378460"/>
                </a:lnTo>
                <a:cubicBezTo>
                  <a:pt x="-1587" y="385604"/>
                  <a:pt x="-397" y="394335"/>
                  <a:pt x="5080" y="400288"/>
                </a:cubicBezTo>
                <a:cubicBezTo>
                  <a:pt x="10557" y="406241"/>
                  <a:pt x="19209" y="408067"/>
                  <a:pt x="26591" y="404892"/>
                </a:cubicBezTo>
                <a:lnTo>
                  <a:pt x="120571" y="364649"/>
                </a:lnTo>
                <a:cubicBezTo>
                  <a:pt x="145812" y="375126"/>
                  <a:pt x="173752" y="381000"/>
                  <a:pt x="203200" y="381000"/>
                </a:cubicBezTo>
                <a:close/>
                <a:moveTo>
                  <a:pt x="101600" y="165100"/>
                </a:moveTo>
                <a:cubicBezTo>
                  <a:pt x="115619" y="165100"/>
                  <a:pt x="127000" y="176481"/>
                  <a:pt x="127000" y="190500"/>
                </a:cubicBezTo>
                <a:cubicBezTo>
                  <a:pt x="127000" y="204519"/>
                  <a:pt x="115619" y="215900"/>
                  <a:pt x="101600" y="215900"/>
                </a:cubicBezTo>
                <a:cubicBezTo>
                  <a:pt x="87581" y="215900"/>
                  <a:pt x="76200" y="204519"/>
                  <a:pt x="76200" y="190500"/>
                </a:cubicBezTo>
                <a:cubicBezTo>
                  <a:pt x="76200" y="176481"/>
                  <a:pt x="87581" y="165100"/>
                  <a:pt x="101600" y="165100"/>
                </a:cubicBezTo>
                <a:close/>
                <a:moveTo>
                  <a:pt x="203200" y="165100"/>
                </a:moveTo>
                <a:cubicBezTo>
                  <a:pt x="217219" y="165100"/>
                  <a:pt x="228600" y="176481"/>
                  <a:pt x="228600" y="190500"/>
                </a:cubicBezTo>
                <a:cubicBezTo>
                  <a:pt x="228600" y="204519"/>
                  <a:pt x="217219" y="215900"/>
                  <a:pt x="203200" y="215900"/>
                </a:cubicBezTo>
                <a:cubicBezTo>
                  <a:pt x="189181" y="215900"/>
                  <a:pt x="177800" y="204519"/>
                  <a:pt x="177800" y="190500"/>
                </a:cubicBezTo>
                <a:cubicBezTo>
                  <a:pt x="177800" y="176481"/>
                  <a:pt x="189181" y="165100"/>
                  <a:pt x="203200" y="165100"/>
                </a:cubicBezTo>
                <a:close/>
                <a:moveTo>
                  <a:pt x="279400" y="190500"/>
                </a:moveTo>
                <a:cubicBezTo>
                  <a:pt x="279400" y="176481"/>
                  <a:pt x="290781" y="165100"/>
                  <a:pt x="304800" y="165100"/>
                </a:cubicBezTo>
                <a:cubicBezTo>
                  <a:pt x="318819" y="165100"/>
                  <a:pt x="330200" y="176481"/>
                  <a:pt x="330200" y="190500"/>
                </a:cubicBezTo>
                <a:cubicBezTo>
                  <a:pt x="330200" y="204519"/>
                  <a:pt x="318819" y="215900"/>
                  <a:pt x="304800" y="215900"/>
                </a:cubicBezTo>
                <a:cubicBezTo>
                  <a:pt x="290781" y="215900"/>
                  <a:pt x="279400" y="204519"/>
                  <a:pt x="279400" y="190500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7" name="Text 25"/>
          <p:cNvSpPr/>
          <p:nvPr/>
        </p:nvSpPr>
        <p:spPr>
          <a:xfrm>
            <a:off x="9271000" y="37465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情感分析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对学生留言进行情感得分计算、关键词提取、心理主题识别（jieba + 情感词典）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45500" y="5207000"/>
            <a:ext cx="7048500" cy="1397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95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2084" y="14605"/>
                </a:moveTo>
                <a:cubicBezTo>
                  <a:pt x="171609" y="18574"/>
                  <a:pt x="177800" y="27781"/>
                  <a:pt x="177800" y="38100"/>
                </a:cubicBezTo>
                <a:lnTo>
                  <a:pt x="177800" y="101600"/>
                </a:lnTo>
                <a:lnTo>
                  <a:pt x="266700" y="101600"/>
                </a:lnTo>
                <a:cubicBezTo>
                  <a:pt x="343853" y="101600"/>
                  <a:pt x="406400" y="164148"/>
                  <a:pt x="406400" y="241300"/>
                </a:cubicBezTo>
                <a:cubicBezTo>
                  <a:pt x="406400" y="331232"/>
                  <a:pt x="341709" y="371396"/>
                  <a:pt x="326866" y="379492"/>
                </a:cubicBezTo>
                <a:cubicBezTo>
                  <a:pt x="324882" y="380603"/>
                  <a:pt x="322659" y="381000"/>
                  <a:pt x="320437" y="381000"/>
                </a:cubicBezTo>
                <a:cubicBezTo>
                  <a:pt x="311785" y="381000"/>
                  <a:pt x="304800" y="373936"/>
                  <a:pt x="304800" y="365363"/>
                </a:cubicBezTo>
                <a:cubicBezTo>
                  <a:pt x="304800" y="359410"/>
                  <a:pt x="308213" y="353933"/>
                  <a:pt x="312579" y="349885"/>
                </a:cubicBezTo>
                <a:cubicBezTo>
                  <a:pt x="320040" y="342900"/>
                  <a:pt x="330200" y="328930"/>
                  <a:pt x="330200" y="304879"/>
                </a:cubicBezTo>
                <a:cubicBezTo>
                  <a:pt x="330200" y="262811"/>
                  <a:pt x="296069" y="228679"/>
                  <a:pt x="254000" y="228679"/>
                </a:cubicBezTo>
                <a:lnTo>
                  <a:pt x="177800" y="228679"/>
                </a:lnTo>
                <a:lnTo>
                  <a:pt x="177800" y="292179"/>
                </a:lnTo>
                <a:cubicBezTo>
                  <a:pt x="177800" y="302419"/>
                  <a:pt x="171609" y="311706"/>
                  <a:pt x="162084" y="315674"/>
                </a:cubicBezTo>
                <a:cubicBezTo>
                  <a:pt x="152559" y="319643"/>
                  <a:pt x="141684" y="317421"/>
                  <a:pt x="134382" y="310198"/>
                </a:cubicBezTo>
                <a:lnTo>
                  <a:pt x="7382" y="183198"/>
                </a:lnTo>
                <a:cubicBezTo>
                  <a:pt x="-2540" y="173276"/>
                  <a:pt x="-2540" y="157163"/>
                  <a:pt x="7382" y="147241"/>
                </a:cubicBezTo>
                <a:lnTo>
                  <a:pt x="134382" y="20241"/>
                </a:lnTo>
                <a:cubicBezTo>
                  <a:pt x="141684" y="12938"/>
                  <a:pt x="152559" y="10795"/>
                  <a:pt x="162084" y="14764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30" name="Text 28"/>
          <p:cNvSpPr/>
          <p:nvPr/>
        </p:nvSpPr>
        <p:spPr>
          <a:xfrm>
            <a:off x="9271000" y="5334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辅导员在线回复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支持辅导员对学生测评留言进行在线回复，形成良性互动闭环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9_Abstract_Neural_Networks_Visualization.png"/>
          <p:cNvPicPr>
            <a:picLocks noChangeAspect="1"/>
          </p:cNvPicPr>
          <p:nvPr/>
        </p:nvPicPr>
        <p:blipFill>
          <a:blip r:embed="rId3"/>
          <a:srcRect t="1299" b="129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4000"/>
                </a:srgbClr>
              </a:gs>
              <a:gs pos="6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72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项目创新点与总结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技术创新、业务创新、工程创新与项目总结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演讲者5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技术创新与业务创新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技术创新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032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87500" y="2095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 err="1">
                <a:solidFill>
                  <a:srgbClr val="1E2A3A"/>
                </a:solidFill>
                <a:latin typeface="Quattrocento Sans" pitchFamily="34" charset="0"/>
              </a:rPr>
              <a:t>多维特征工程</a:t>
            </a:r>
            <a:r>
              <a:rPr lang="en-US" sz="1500" dirty="0" err="1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：原始</a:t>
            </a: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 特征 + 3 派生特征，提升模型表现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0480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3048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87500" y="3111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SMOTE </a:t>
            </a:r>
            <a:r>
              <a:rPr lang="en-US" sz="1500" b="1" dirty="0" err="1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过采样</a:t>
            </a: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r>
              <a:rPr lang="zh-CN" altLang="en-US" sz="1500" b="1" dirty="0">
                <a:solidFill>
                  <a:srgbClr val="1E2A3A"/>
                </a:solidFill>
                <a:latin typeface="Quattrocento Sans" pitchFamily="34" charset="0"/>
              </a:rPr>
              <a:t>避免合成噪声</a:t>
            </a:r>
            <a:endParaRPr lang="en-US" sz="1500" b="1" dirty="0">
              <a:solidFill>
                <a:srgbClr val="1E2A3A"/>
              </a:solidFill>
              <a:latin typeface="Quattrocento Sans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40640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064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87500" y="4127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预聚合表策略</a:t>
            </a: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：周维度统计数据预计算，查询从秒级降到毫秒级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50800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080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87500" y="5143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覆盖索引设计</a:t>
            </a: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：针对 MAX(id) GROUP BY 模式设计专用索引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62000" y="6096000"/>
            <a:ext cx="7048500" cy="889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6096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587500" y="6159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跨数据库兼容</a:t>
            </a: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：所有 SQL 使用辅助函数，支持 SQLite 和 MySQL 无缝切换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455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业务创新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45500" y="2032000"/>
            <a:ext cx="7048500" cy="889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0" name="Text 28"/>
          <p:cNvSpPr/>
          <p:nvPr/>
        </p:nvSpPr>
        <p:spPr>
          <a:xfrm>
            <a:off x="8636000" y="2032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271000" y="2095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动态监测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：12 周行为数据持续追踪，非一次性筛查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45500" y="3048000"/>
            <a:ext cx="7048500" cy="889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3" name="Text 31"/>
          <p:cNvSpPr/>
          <p:nvPr/>
        </p:nvSpPr>
        <p:spPr>
          <a:xfrm>
            <a:off x="8636000" y="3048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271000" y="3111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智能预警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：数据库触发器自动生成高风险预警通知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45500" y="4064000"/>
            <a:ext cx="7048500" cy="889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6" name="Text 34"/>
          <p:cNvSpPr/>
          <p:nvPr/>
        </p:nvSpPr>
        <p:spPr>
          <a:xfrm>
            <a:off x="8636000" y="4064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271000" y="4127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群体画像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：K-Means 聚类 + 20+ 种智能命名，帮助理解群体特征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445500" y="5080000"/>
            <a:ext cx="7048500" cy="889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9" name="Text 37"/>
          <p:cNvSpPr/>
          <p:nvPr/>
        </p:nvSpPr>
        <p:spPr>
          <a:xfrm>
            <a:off x="8636000" y="5080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271000" y="5143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情感分析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：对学生留言进行情感分析和心理主题识别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445500" y="6096000"/>
            <a:ext cx="7048500" cy="889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42" name="Text 40"/>
          <p:cNvSpPr/>
          <p:nvPr/>
        </p:nvSpPr>
        <p:spPr>
          <a:xfrm>
            <a:off x="8636000" y="6096000"/>
            <a:ext cx="571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271000" y="6159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定期上报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：辅导员每周汇报本院系心理状态，形成闭环管理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工程创新与数据规模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工程创新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3429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730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单例懒加载 ML 模型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避免重复加载，节省内存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45000" y="2032000"/>
            <a:ext cx="3429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99000" y="2222500"/>
            <a:ext cx="406400" cy="406400"/>
          </a:xfrm>
          <a:prstGeom prst="ellipse">
            <a:avLst/>
          </a:prstGeom>
          <a:solidFill>
            <a:srgbClr val="C45C3C"/>
          </a:solidFill>
          <a:ln/>
        </p:spPr>
      </p:sp>
      <p:sp>
        <p:nvSpPr>
          <p:cNvPr id="18" name="Text 16"/>
          <p:cNvSpPr/>
          <p:nvPr/>
        </p:nvSpPr>
        <p:spPr>
          <a:xfrm>
            <a:off x="4699000" y="2730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 TTL 缓存策略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按需请求，减少网络开销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8000" y="2032000"/>
            <a:ext cx="3429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382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2730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角色权限控制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三级权限，数据隔离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811000" y="2032000"/>
            <a:ext cx="3683000" cy="1778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65000" y="2222500"/>
            <a:ext cx="406400" cy="406400"/>
          </a:xfrm>
          <a:prstGeom prst="ellipse">
            <a:avLst/>
          </a:prstGeom>
          <a:solidFill>
            <a:srgbClr val="C45C3C"/>
          </a:solidFill>
          <a:ln/>
        </p:spPr>
      </p:sp>
      <p:sp>
        <p:nvSpPr>
          <p:cNvPr id="24" name="Text 22"/>
          <p:cNvSpPr/>
          <p:nvPr/>
        </p:nvSpPr>
        <p:spPr>
          <a:xfrm>
            <a:off x="12065000" y="2730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一键部署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+ 后端 + 前端容器化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2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数据规模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46101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4889500"/>
            <a:ext cx="3429000" cy="2032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5016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100,000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1016000" y="5778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学生信息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条基础记录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45000" y="4889500"/>
            <a:ext cx="3429000" cy="2032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31" name="Text 29"/>
          <p:cNvSpPr/>
          <p:nvPr/>
        </p:nvSpPr>
        <p:spPr>
          <a:xfrm>
            <a:off x="4699000" y="5016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~1.2M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4699000" y="5778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行为记录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周 × 10 万学生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28000" y="4889500"/>
            <a:ext cx="3429000" cy="2032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5016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C45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~100K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8382000" y="5778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评估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条预测记录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811000" y="4889500"/>
            <a:ext cx="3683000" cy="2032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37" name="Text 35"/>
          <p:cNvSpPr/>
          <p:nvPr/>
        </p:nvSpPr>
        <p:spPr>
          <a:xfrm>
            <a:off x="12065000" y="5016500"/>
            <a:ext cx="317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~180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12065000" y="5778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预聚合统计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周 × 5 院系 × 3 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114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系统架构与技术栈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228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342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数据库设计与优化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45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机器学习模型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570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前端功能展示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68400" y="0"/>
            <a:ext cx="238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项目创新点与总结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项目总结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70000"/>
            <a:ext cx="508000" cy="381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4605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D4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完整闭环：数据采集 → 特征工程 → ML 预测 → 风险预警 → 干预建议 → 定期汇报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159000"/>
            <a:ext cx="2743200" cy="2921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0480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数据驱动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34925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 10 万学生的真实行为数据，非主观判断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59200" y="2159000"/>
            <a:ext cx="2743200" cy="2921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40132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10537" y="0"/>
                  <a:pt x="195943" y="12769"/>
                  <a:pt x="195943" y="28575"/>
                </a:cubicBezTo>
                <a:lnTo>
                  <a:pt x="195943" y="31433"/>
                </a:lnTo>
                <a:cubicBezTo>
                  <a:pt x="121444" y="44648"/>
                  <a:pt x="65314" y="102334"/>
                  <a:pt x="65314" y="171450"/>
                </a:cubicBezTo>
                <a:lnTo>
                  <a:pt x="65314" y="190827"/>
                </a:lnTo>
                <a:cubicBezTo>
                  <a:pt x="65314" y="233779"/>
                  <a:pt x="48578" y="275481"/>
                  <a:pt x="17961" y="309056"/>
                </a:cubicBezTo>
                <a:lnTo>
                  <a:pt x="7960" y="319951"/>
                </a:lnTo>
                <a:cubicBezTo>
                  <a:pt x="2755" y="325576"/>
                  <a:pt x="0" y="332542"/>
                  <a:pt x="0" y="339775"/>
                </a:cubicBezTo>
                <a:cubicBezTo>
                  <a:pt x="0" y="357277"/>
                  <a:pt x="16227" y="371475"/>
                  <a:pt x="36229" y="371475"/>
                </a:cubicBezTo>
                <a:lnTo>
                  <a:pt x="420869" y="371475"/>
                </a:lnTo>
                <a:cubicBezTo>
                  <a:pt x="440871" y="371475"/>
                  <a:pt x="457098" y="357277"/>
                  <a:pt x="457098" y="339775"/>
                </a:cubicBezTo>
                <a:cubicBezTo>
                  <a:pt x="457098" y="332542"/>
                  <a:pt x="454343" y="325576"/>
                  <a:pt x="449138" y="319951"/>
                </a:cubicBezTo>
                <a:lnTo>
                  <a:pt x="439137" y="309056"/>
                </a:lnTo>
                <a:cubicBezTo>
                  <a:pt x="408623" y="275481"/>
                  <a:pt x="391886" y="233779"/>
                  <a:pt x="391886" y="190827"/>
                </a:cubicBezTo>
                <a:lnTo>
                  <a:pt x="391886" y="171450"/>
                </a:lnTo>
                <a:cubicBezTo>
                  <a:pt x="391886" y="102334"/>
                  <a:pt x="335756" y="44648"/>
                  <a:pt x="261257" y="31432"/>
                </a:cubicBezTo>
                <a:lnTo>
                  <a:pt x="261257" y="28575"/>
                </a:lnTo>
                <a:cubicBezTo>
                  <a:pt x="261257" y="12769"/>
                  <a:pt x="246663" y="0"/>
                  <a:pt x="228600" y="0"/>
                </a:cubicBezTo>
                <a:close/>
                <a:moveTo>
                  <a:pt x="165327" y="414338"/>
                </a:moveTo>
                <a:cubicBezTo>
                  <a:pt x="172573" y="438983"/>
                  <a:pt x="198188" y="457200"/>
                  <a:pt x="228600" y="457200"/>
                </a:cubicBezTo>
                <a:cubicBezTo>
                  <a:pt x="259012" y="457200"/>
                  <a:pt x="284627" y="438983"/>
                  <a:pt x="291873" y="414338"/>
                </a:cubicBezTo>
                <a:lnTo>
                  <a:pt x="165327" y="414338"/>
                </a:ln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013200" y="30480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实时预警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13200" y="34925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高风险评估自动触发预警通知，无需人工干预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56400" y="2159000"/>
            <a:ext cx="2743200" cy="2921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0104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3" name="Text 21"/>
          <p:cNvSpPr/>
          <p:nvPr/>
        </p:nvSpPr>
        <p:spPr>
          <a:xfrm>
            <a:off x="7010400" y="30480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智能分析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10400" y="34925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预测 + NLP 情感分析 + 聚类画像，多维度理解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53600" y="2159000"/>
            <a:ext cx="2743200" cy="2921000"/>
          </a:xfrm>
          <a:prstGeom prst="rect">
            <a:avLst/>
          </a:prstGeom>
          <a:solidFill>
            <a:srgbClr val="2D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076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  <a:solidFill>
            <a:srgbClr val="C45C3C"/>
          </a:solidFill>
          <a:ln/>
        </p:spPr>
      </p:sp>
      <p:sp>
        <p:nvSpPr>
          <p:cNvPr id="27" name="Text 25"/>
          <p:cNvSpPr/>
          <p:nvPr/>
        </p:nvSpPr>
        <p:spPr>
          <a:xfrm>
            <a:off x="10007600" y="30480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性能优化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07600" y="34925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覆盖索引 + 预聚合表，支撑 10 万级数据毫秒级查询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2750800" y="2159000"/>
            <a:ext cx="2743200" cy="29210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0048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3004800" y="3048000"/>
            <a:ext cx="2235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闭环管理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004800" y="34925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学生自评 → 辅导员监测 → 预警 → 干预 → 定期汇报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2000" y="5588000"/>
            <a:ext cx="14732000" cy="2286000"/>
          </a:xfrm>
          <a:prstGeom prst="rect">
            <a:avLst/>
          </a:prstGeom>
          <a:solidFill>
            <a:srgbClr val="EDEAE5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" y="57785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项目成果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本系统实现了从数据采集到定期汇报的完整闭环管理，覆盖 </a:t>
            </a:r>
            <a:r>
              <a:rPr lang="en-US" sz="18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万学生</a:t>
            </a:r>
            <a:r>
              <a:rPr lang="en-US" sz="18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18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 万行为记录</a:t>
            </a:r>
            <a:r>
              <a:rPr lang="en-US" sz="18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的大规模数据处理，具备 </a:t>
            </a:r>
            <a:r>
              <a:rPr lang="en-US" sz="18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24+ API 端点</a:t>
            </a:r>
            <a:r>
              <a:rPr lang="en-US" sz="18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18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级角色权限</a:t>
            </a:r>
            <a:r>
              <a:rPr lang="en-US" sz="18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1800" b="1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种干预建议模板</a:t>
            </a:r>
            <a:r>
              <a:rPr lang="en-US" sz="1800" dirty="0">
                <a:solidFill>
                  <a:srgbClr val="1E2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，为高校心理健康管理提供了数据驱动、智能预警、闭环干预的完整解决方案。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B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vsjxcy5qwdsk/mnt/agents/output/mental-health-ppt/images/10_Which_Classroom_Technologies_Do_College.png"/>
          <p:cNvPicPr>
            <a:picLocks noChangeAspect="1"/>
          </p:cNvPicPr>
          <p:nvPr/>
        </p:nvPicPr>
        <p:blipFill>
          <a:blip r:embed="rId3"/>
          <a:srcRect l="19120" r="1912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70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F3D">
                  <a:alpha val="96000"/>
                </a:srgbClr>
              </a:gs>
              <a:gs pos="50000">
                <a:srgbClr val="1E2F3D">
                  <a:alpha val="88000"/>
                </a:srgbClr>
              </a:gs>
              <a:gs pos="100000">
                <a:srgbClr val="1E2F3D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C45C3C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794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048000" y="3937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大学生心理健康状况动态监测与预警系统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0" y="45720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482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期待您的指导与建议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18000" y="558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第七小组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2026年6月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1561</Words>
  <Application>Microsoft Office PowerPoint</Application>
  <PresentationFormat>自定义</PresentationFormat>
  <Paragraphs>495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Liter</vt:lpstr>
      <vt:lpstr>Arial</vt:lpstr>
      <vt:lpstr>Quattrocento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大学生心理健康状况动态监测与预警系统</dc:title>
  <dc:subject>大学生心理健康状况动态监测与预警系统</dc:subject>
  <dc:creator>Kimi</dc:creator>
  <cp:lastModifiedBy>Gaze red</cp:lastModifiedBy>
  <cp:revision>2</cp:revision>
  <dcterms:created xsi:type="dcterms:W3CDTF">2026-06-18T04:14:16Z</dcterms:created>
  <dcterms:modified xsi:type="dcterms:W3CDTF">2026-06-18T08:20:02Z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学生心理健康状况动态监测与预警系统","ContentProducer":"001191110108MACG2KBH8F10000","ProduceID":"19ed8d42-0922-81c1-8000-0000e17440b1","ReservedCode1":"","ContentPropagator":"001191110108MACG2KBH8F20000","PropagateID":"19ed8d1b-f522-812d-8000-0964262e5215","ReservedCode2":""}</vt:lpwstr>
  </property>
</Properties>
</file>